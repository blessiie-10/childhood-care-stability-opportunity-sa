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Weighted share</c:v>
          </c:tx>
          <c:spPr>
            <a:solidFill>
              <a:srgbClr val="A93673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F9C0-4D21-98A1-F0E547DA4DBA}"/>
              </c:ext>
            </c:extLst>
          </c:dPt>
          <c:dPt>
            <c:idx val="1"/>
            <c:invertIfNegative val="1"/>
            <c:bubble3D val="0"/>
            <c:spPr>
              <a:solidFill>
                <a:srgbClr val="F06FAE"/>
              </a:solidFill>
            </c:spPr>
            <c:extLst>
              <c:ext xmlns:c16="http://schemas.microsoft.com/office/drawing/2014/chart" uri="{C3380CC4-5D6E-409C-BE32-E72D297353CC}">
                <c16:uniqueId val="{00000003-F9C0-4D21-98A1-F0E547DA4DBA}"/>
              </c:ext>
            </c:extLst>
          </c:dPt>
          <c:dPt>
            <c:idx val="2"/>
            <c:invertIfNegative val="1"/>
            <c:bubble3D val="0"/>
            <c:spPr>
              <a:solidFill>
                <a:srgbClr val="35C9C2"/>
              </a:solidFill>
            </c:spPr>
            <c:extLst>
              <c:ext xmlns:c16="http://schemas.microsoft.com/office/drawing/2014/chart" uri="{C3380CC4-5D6E-409C-BE32-E72D297353CC}">
                <c16:uniqueId val="{00000005-F9C0-4D21-98A1-F0E547DA4DBA}"/>
              </c:ext>
            </c:extLst>
          </c:dPt>
          <c:dPt>
            <c:idx val="3"/>
            <c:invertIfNegative val="1"/>
            <c:bubble3D val="0"/>
            <c:spPr>
              <a:solidFill>
                <a:srgbClr val="087F83"/>
              </a:solidFill>
            </c:spPr>
            <c:extLst>
              <c:ext xmlns:c16="http://schemas.microsoft.com/office/drawing/2014/chart" uri="{C3380CC4-5D6E-409C-BE32-E72D297353CC}">
                <c16:uniqueId val="{00000007-F9C0-4D21-98A1-F0E547DA4D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36212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Both</c:v>
              </c:pt>
              <c:pt idx="1">
                <c:v>Mother only</c:v>
              </c:pt>
              <c:pt idx="2">
                <c:v>Father only</c:v>
              </c:pt>
              <c:pt idx="3">
                <c:v>Neither</c:v>
              </c:pt>
            </c:strLit>
          </c:cat>
          <c:val>
            <c:numLit>
              <c:formatCode>0.0%</c:formatCode>
              <c:ptCount val="4"/>
              <c:pt idx="0">
                <c:v>0.31369999999999998</c:v>
              </c:pt>
              <c:pt idx="1">
                <c:v>0.4592</c:v>
              </c:pt>
              <c:pt idx="2">
                <c:v>4.2000000000000003E-2</c:v>
              </c:pt>
              <c:pt idx="3">
                <c:v>0.1852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9C0-4D21-98A1-F0E547DA4D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36212E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Any social grant</c:v>
          </c:tx>
          <c:spPr>
            <a:solidFill>
              <a:srgbClr val="A936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36212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Both</c:v>
              </c:pt>
              <c:pt idx="1">
                <c:v>Mother only</c:v>
              </c:pt>
              <c:pt idx="2">
                <c:v>Father only</c:v>
              </c:pt>
              <c:pt idx="3">
                <c:v>Neither</c:v>
              </c:pt>
            </c:strLit>
          </c:cat>
          <c:val>
            <c:numLit>
              <c:formatCode>0.0%</c:formatCode>
              <c:ptCount val="4"/>
              <c:pt idx="0">
                <c:v>0.46250000000000002</c:v>
              </c:pt>
              <c:pt idx="1">
                <c:v>0.79300000000000004</c:v>
              </c:pt>
              <c:pt idx="2">
                <c:v>0.64539999999999997</c:v>
              </c:pt>
              <c:pt idx="3">
                <c:v>0.80830000000000002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D08-4FB2-B1D8-C93EF6AEE2A8}"/>
            </c:ext>
          </c:extLst>
        </c:ser>
        <c:ser>
          <c:idx val="1"/>
          <c:order val="1"/>
          <c:tx>
            <c:v>Child Support Grant</c:v>
          </c:tx>
          <c:spPr>
            <a:solidFill>
              <a:srgbClr val="35C9C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36212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Both</c:v>
              </c:pt>
              <c:pt idx="1">
                <c:v>Mother only</c:v>
              </c:pt>
              <c:pt idx="2">
                <c:v>Father only</c:v>
              </c:pt>
              <c:pt idx="3">
                <c:v>Neither</c:v>
              </c:pt>
            </c:strLit>
          </c:cat>
          <c:val>
            <c:numLit>
              <c:formatCode>0.0%</c:formatCode>
              <c:ptCount val="4"/>
              <c:pt idx="0">
                <c:v>0.44340000000000002</c:v>
              </c:pt>
              <c:pt idx="1">
                <c:v>0.76659999999999995</c:v>
              </c:pt>
              <c:pt idx="2">
                <c:v>0.59750000000000003</c:v>
              </c:pt>
              <c:pt idx="3">
                <c:v>0.75149999999999995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D08-4FB2-B1D8-C93EF6AEE2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CD9E3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77636E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36212E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77636E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central framing: this project studies conditions around children, not the inherent value of family types. The GHS person weight represents about 21.06 million children aged 0–17.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four observable groups and the validation against the Stats SA published distribution. Stress that neither-parent households often include grandparents or other relatives.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table to establish confounding: living arrangements are intertwined with geography and resources. Food insufficiency means food for children was insufficient at least seldom.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Attendance is high in every group. Explain that adjusted values are standardised predictions; observed intervals account for survey strata and PSU clustering. Adjusted estimates remain point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Focus on the direction of adjustment, not significance claims. The father-only group contains 698 applicable learners for the repetition analysis and should be treated cautiously.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grant receipt as social-protection reach. Foster Child Grant receipt is uncommon and cannot identify all foster-care arrangements.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reproducible pipeline. The observed confidence intervals account for stratification and PSU clustering; adjusted values are currently point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returning to the framing. The practical levers are food security, connectivity and targeted educational support—not ranking family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urquoise-orbit">
            <a:extLst>
              <a:ext uri="{FF2B5EF4-FFF2-40B4-BE49-F238E27FC236}">
                <a16:creationId xmlns:a16="http://schemas.microsoft.com/office/drawing/2014/main" id="{B59D8F43-0F7A-4ACC-9744-310990202D2B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667000" cy="2667000"/>
          </a:xfrm>
          <a:prstGeom prst="ellipse">
            <a:avLst/>
          </a:prstGeom>
          <a:solidFill>
            <a:srgbClr val="DFF9F7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" name="pink-orbit">
            <a:extLst>
              <a:ext uri="{FF2B5EF4-FFF2-40B4-BE49-F238E27FC236}">
                <a16:creationId xmlns:a16="http://schemas.microsoft.com/office/drawing/2014/main" id="{1801B576-67B4-48A9-9946-C94A06BEDCAB}"/>
              </a:ext>
            </a:extLst>
          </p:cNvPr>
          <p:cNvSpPr>
            <a:spLocks noGrp="1"/>
          </p:cNvSpPr>
          <p:nvPr/>
        </p:nvSpPr>
        <p:spPr>
          <a:xfrm>
            <a:off x="9715500" y="4095750"/>
            <a:ext cx="2476500" cy="2476500"/>
          </a:xfrm>
          <a:prstGeom prst="ellipse">
            <a:avLst/>
          </a:prstGeom>
          <a:solidFill>
            <a:srgbClr val="FFF2F8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project-label">
            <a:extLst>
              <a:ext uri="{FF2B5EF4-FFF2-40B4-BE49-F238E27FC236}">
                <a16:creationId xmlns:a16="http://schemas.microsoft.com/office/drawing/2014/main" id="{8628384D-E81A-4652-80FB-ECEABC228C18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542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83"/>
                </a:solidFill>
              </a:defRPr>
            </a:pPr>
            <a:r>
              <a:rPr sz="1050" b="1">
                <a:solidFill>
                  <a:srgbClr val="087F83"/>
                </a:solidFill>
              </a:rPr>
              <a:t>PORTFOLIO PROJECT 04  /  SOUTH AFRICA</a:t>
            </a:r>
          </a:p>
        </p:txBody>
      </p:sp>
      <p:sp>
        <p:nvSpPr>
          <p:cNvPr id="4" name="deck-title">
            <a:extLst>
              <a:ext uri="{FF2B5EF4-FFF2-40B4-BE49-F238E27FC236}">
                <a16:creationId xmlns:a16="http://schemas.microsoft.com/office/drawing/2014/main" id="{BCA12F38-3EDE-4883-BEC5-81B93A3BEE9B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7000875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00" b="1">
                <a:solidFill>
                  <a:srgbClr val="A93673"/>
                </a:solidFill>
              </a:defRPr>
            </a:pPr>
            <a:r>
              <a:rPr sz="4500" b="1">
                <a:solidFill>
                  <a:srgbClr val="A93673"/>
                </a:solidFill>
              </a:rPr>
              <a:t>Childhood Care,</a:t>
            </a:r>
          </a:p>
          <a:p>
            <a:pPr algn="l">
              <a:defRPr sz="4500" b="1">
                <a:solidFill>
                  <a:srgbClr val="A93673"/>
                </a:solidFill>
              </a:defRPr>
            </a:pPr>
            <a:r>
              <a:rPr sz="4500" b="1">
                <a:solidFill>
                  <a:srgbClr val="A93673"/>
                </a:solidFill>
              </a:rPr>
              <a:t>Stability and Opportunity</a:t>
            </a:r>
          </a:p>
        </p:txBody>
      </p:sp>
      <p:sp>
        <p:nvSpPr>
          <p:cNvPr id="5" name="opening-claim">
            <a:extLst>
              <a:ext uri="{FF2B5EF4-FFF2-40B4-BE49-F238E27FC236}">
                <a16:creationId xmlns:a16="http://schemas.microsoft.com/office/drawing/2014/main" id="{9AD97D53-4291-4CC6-98D1-B33F3DAF4C7C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36212E"/>
                </a:solidFill>
              </a:defRPr>
            </a:pPr>
            <a:r>
              <a:rPr sz="2550" b="1">
                <a:solidFill>
                  <a:srgbClr val="36212E"/>
                </a:solidFill>
              </a:rPr>
              <a:t>Care is context.</a:t>
            </a:r>
          </a:p>
        </p:txBody>
      </p:sp>
      <p:sp>
        <p:nvSpPr>
          <p:cNvPr id="6" name="deck-subtitle">
            <a:extLst>
              <a:ext uri="{FF2B5EF4-FFF2-40B4-BE49-F238E27FC236}">
                <a16:creationId xmlns:a16="http://schemas.microsoft.com/office/drawing/2014/main" id="{395B4130-7CDB-42C1-9B0F-7FD4AD45D4A7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334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77636E"/>
                </a:solidFill>
              </a:defRPr>
            </a:pPr>
            <a:r>
              <a:rPr sz="1650" b="0" dirty="0">
                <a:solidFill>
                  <a:srgbClr val="77636E"/>
                </a:solidFill>
              </a:rPr>
              <a:t>How living arrangements intersect with education, household resources and social protection in the GHS 2025.</a:t>
            </a:r>
          </a:p>
        </p:txBody>
      </p:sp>
      <p:sp>
        <p:nvSpPr>
          <p:cNvPr id="7" name="population-card">
            <a:extLst>
              <a:ext uri="{FF2B5EF4-FFF2-40B4-BE49-F238E27FC236}">
                <a16:creationId xmlns:a16="http://schemas.microsoft.com/office/drawing/2014/main" id="{1219AD22-7C0B-4C63-A35F-4BDE28440340}"/>
              </a:ext>
            </a:extLst>
          </p:cNvPr>
          <p:cNvSpPr>
            <a:spLocks noGrp="1"/>
          </p:cNvSpPr>
          <p:nvPr/>
        </p:nvSpPr>
        <p:spPr>
          <a:xfrm>
            <a:off x="8143875" y="1524000"/>
            <a:ext cx="3143250" cy="3238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CD9E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population-kicker">
            <a:extLst>
              <a:ext uri="{FF2B5EF4-FFF2-40B4-BE49-F238E27FC236}">
                <a16:creationId xmlns:a16="http://schemas.microsoft.com/office/drawing/2014/main" id="{F02989A0-9EEE-44F5-A24E-7CAFE6AE6EF2}"/>
              </a:ext>
            </a:extLst>
          </p:cNvPr>
          <p:cNvSpPr>
            <a:spLocks noGrp="1"/>
          </p:cNvSpPr>
          <p:nvPr/>
        </p:nvSpPr>
        <p:spPr>
          <a:xfrm>
            <a:off x="8524875" y="1952625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87F83"/>
                </a:solidFill>
              </a:defRPr>
            </a:pPr>
            <a:r>
              <a:rPr sz="900" b="1">
                <a:solidFill>
                  <a:srgbClr val="087F83"/>
                </a:solidFill>
              </a:rPr>
              <a:t>REPRESENTED POPULATION</a:t>
            </a:r>
          </a:p>
        </p:txBody>
      </p:sp>
      <p:sp>
        <p:nvSpPr>
          <p:cNvPr id="9" name="population-number">
            <a:extLst>
              <a:ext uri="{FF2B5EF4-FFF2-40B4-BE49-F238E27FC236}">
                <a16:creationId xmlns:a16="http://schemas.microsoft.com/office/drawing/2014/main" id="{0C950EF7-7FFB-4377-8B38-C8BF2FE169EE}"/>
              </a:ext>
            </a:extLst>
          </p:cNvPr>
          <p:cNvSpPr>
            <a:spLocks noGrp="1"/>
          </p:cNvSpPr>
          <p:nvPr/>
        </p:nvSpPr>
        <p:spPr>
          <a:xfrm>
            <a:off x="8524875" y="2333625"/>
            <a:ext cx="24288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A93673"/>
                </a:solidFill>
              </a:defRPr>
            </a:pPr>
            <a:r>
              <a:rPr sz="4050" b="1">
                <a:solidFill>
                  <a:srgbClr val="A93673"/>
                </a:solidFill>
              </a:rPr>
              <a:t>21.06M</a:t>
            </a:r>
          </a:p>
        </p:txBody>
      </p:sp>
      <p:sp>
        <p:nvSpPr>
          <p:cNvPr id="10" name="population-label">
            <a:extLst>
              <a:ext uri="{FF2B5EF4-FFF2-40B4-BE49-F238E27FC236}">
                <a16:creationId xmlns:a16="http://schemas.microsoft.com/office/drawing/2014/main" id="{13137B09-FC00-4A79-9D80-8C1A23EA3A1C}"/>
              </a:ext>
            </a:extLst>
          </p:cNvPr>
          <p:cNvSpPr>
            <a:spLocks noGrp="1"/>
          </p:cNvSpPr>
          <p:nvPr/>
        </p:nvSpPr>
        <p:spPr>
          <a:xfrm>
            <a:off x="8524875" y="31432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77636E"/>
                </a:solidFill>
              </a:defRPr>
            </a:pPr>
            <a:r>
              <a:rPr sz="1275" b="0" dirty="0">
                <a:solidFill>
                  <a:srgbClr val="77636E"/>
                </a:solidFill>
              </a:rPr>
              <a:t>children aged 0</a:t>
            </a:r>
            <a:r>
              <a:rPr lang="en-ZA" sz="1275" b="0" dirty="0">
                <a:solidFill>
                  <a:srgbClr val="77636E"/>
                </a:solidFill>
              </a:rPr>
              <a:t>-</a:t>
            </a:r>
            <a:r>
              <a:rPr sz="1275" b="0" dirty="0">
                <a:solidFill>
                  <a:srgbClr val="77636E"/>
                </a:solidFill>
              </a:rPr>
              <a:t>17</a:t>
            </a:r>
          </a:p>
        </p:txBody>
      </p:sp>
      <p:sp>
        <p:nvSpPr>
          <p:cNvPr id="11" name="validation-copy">
            <a:extLst>
              <a:ext uri="{FF2B5EF4-FFF2-40B4-BE49-F238E27FC236}">
                <a16:creationId xmlns:a16="http://schemas.microsoft.com/office/drawing/2014/main" id="{A08C8D7A-53E3-4DEF-B8E9-99839C3F19E0}"/>
              </a:ext>
            </a:extLst>
          </p:cNvPr>
          <p:cNvSpPr>
            <a:spLocks noGrp="1"/>
          </p:cNvSpPr>
          <p:nvPr/>
        </p:nvSpPr>
        <p:spPr>
          <a:xfrm>
            <a:off x="8524875" y="3762375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6212E"/>
                </a:solidFill>
              </a:defRPr>
            </a:pPr>
            <a:r>
              <a:rPr sz="1200" b="0" dirty="0">
                <a:solidFill>
                  <a:srgbClr val="36212E"/>
                </a:solidFill>
              </a:rPr>
              <a:t>22608 sampled children</a:t>
            </a:r>
          </a:p>
          <a:p>
            <a:pPr algn="l">
              <a:defRPr sz="1200" b="0">
                <a:solidFill>
                  <a:srgbClr val="36212E"/>
                </a:solidFill>
              </a:defRPr>
            </a:pPr>
            <a:r>
              <a:rPr sz="1200" b="0" dirty="0">
                <a:solidFill>
                  <a:srgbClr val="36212E"/>
                </a:solidFill>
              </a:rPr>
              <a:t>Weighted grouping matches Stats SA</a:t>
            </a:r>
          </a:p>
        </p:txBody>
      </p:sp>
      <p:sp>
        <p:nvSpPr>
          <p:cNvPr id="12" name="source-footer">
            <a:extLst>
              <a:ext uri="{FF2B5EF4-FFF2-40B4-BE49-F238E27FC236}">
                <a16:creationId xmlns:a16="http://schemas.microsoft.com/office/drawing/2014/main" id="{05CA54D9-8224-4836-8E79-035E8B37BCF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7636E"/>
                </a:solidFill>
              </a:defRPr>
            </a:pPr>
            <a:r>
              <a:rPr sz="750" b="0">
                <a:solidFill>
                  <a:srgbClr val="77636E"/>
                </a:solidFill>
              </a:rPr>
              <a:t>Statistics South Africa GHS 2025, Version 1</a:t>
            </a:r>
          </a:p>
        </p:txBody>
      </p:sp>
      <p:sp>
        <p:nvSpPr>
          <p:cNvPr id="13" name="slide-number">
            <a:extLst>
              <a:ext uri="{FF2B5EF4-FFF2-40B4-BE49-F238E27FC236}">
                <a16:creationId xmlns:a16="http://schemas.microsoft.com/office/drawing/2014/main" id="{83E3C101-FEEC-4355-B7BC-D82FF9AB7DB0}"/>
              </a:ext>
            </a:extLst>
          </p:cNvPr>
          <p:cNvSpPr>
            <a:spLocks noGrp="1"/>
          </p:cNvSpPr>
          <p:nvPr/>
        </p:nvSpPr>
        <p:spPr>
          <a:xfrm>
            <a:off x="10810875" y="6419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93673"/>
                </a:solidFill>
              </a:defRPr>
            </a:pPr>
            <a:r>
              <a:rPr sz="900" b="1">
                <a:solidFill>
                  <a:srgbClr val="A936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8853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-kicker">
            <a:extLst>
              <a:ext uri="{FF2B5EF4-FFF2-40B4-BE49-F238E27FC236}">
                <a16:creationId xmlns:a16="http://schemas.microsoft.com/office/drawing/2014/main" id="{8C0C7F97-ECE1-4326-AAB2-8BAFECD02B98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83"/>
                </a:solidFill>
              </a:defRPr>
            </a:pPr>
            <a:r>
              <a:rPr sz="975" b="1">
                <a:solidFill>
                  <a:srgbClr val="087F83"/>
                </a:solidFill>
              </a:rPr>
              <a:t>01 / WHO CHILDREN LIVE WITH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B94F8AD-7CA3-4849-B09C-0DA6B857803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6212E"/>
                </a:solidFill>
              </a:defRPr>
            </a:pPr>
            <a:r>
              <a:rPr sz="3300" b="1" dirty="0">
                <a:solidFill>
                  <a:srgbClr val="36212E"/>
                </a:solidFill>
              </a:rPr>
              <a:t>Living arrangements are diverse</a:t>
            </a:r>
            <a:r>
              <a:rPr lang="en-ZA" sz="3300" b="1" dirty="0">
                <a:solidFill>
                  <a:srgbClr val="36212E"/>
                </a:solidFill>
              </a:rPr>
              <a:t> </a:t>
            </a:r>
            <a:r>
              <a:rPr sz="3300" b="1" dirty="0">
                <a:solidFill>
                  <a:srgbClr val="36212E"/>
                </a:solidFill>
              </a:rPr>
              <a:t>not a hierarchy.</a:t>
            </a:r>
          </a:p>
        </p:txBody>
      </p:sp>
      <p:sp>
        <p:nvSpPr>
          <p:cNvPr id="3" name="distribution-intro">
            <a:extLst>
              <a:ext uri="{FF2B5EF4-FFF2-40B4-BE49-F238E27FC236}">
                <a16:creationId xmlns:a16="http://schemas.microsoft.com/office/drawing/2014/main" id="{15A55BC8-02E8-4FAB-9CEB-27E3BA536A3B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428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77636E"/>
                </a:solidFill>
              </a:defRPr>
            </a:pPr>
            <a:r>
              <a:rPr sz="1575" b="0">
                <a:solidFill>
                  <a:srgbClr val="77636E"/>
                </a:solidFill>
              </a:rPr>
              <a:t>The largest group lives with mothers only. Nearly one in five lives with neither biological parent in the household.</a:t>
            </a:r>
          </a:p>
        </p:txBody>
      </p:sp>
      <p:sp>
        <p:nvSpPr>
          <p:cNvPr id="4" name="benchmark">
            <a:extLst>
              <a:ext uri="{FF2B5EF4-FFF2-40B4-BE49-F238E27FC236}">
                <a16:creationId xmlns:a16="http://schemas.microsoft.com/office/drawing/2014/main" id="{659B7B9F-EC2B-4A70-8B39-4B5DBBD76F1F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A93673"/>
                </a:solidFill>
              </a:defRPr>
            </a:pPr>
            <a:r>
              <a:rPr sz="2550" b="1">
                <a:solidFill>
                  <a:srgbClr val="A93673"/>
                </a:solidFill>
              </a:rPr>
              <a:t>31.4 / 45.9 / 4.2 / 18.5</a:t>
            </a:r>
          </a:p>
        </p:txBody>
      </p:sp>
      <p:sp>
        <p:nvSpPr>
          <p:cNvPr id="5" name="benchmark-label">
            <a:extLst>
              <a:ext uri="{FF2B5EF4-FFF2-40B4-BE49-F238E27FC236}">
                <a16:creationId xmlns:a16="http://schemas.microsoft.com/office/drawing/2014/main" id="{0F6A7F54-5F7B-4A8A-A877-2404F5A62823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87F83"/>
                </a:solidFill>
              </a:defRPr>
            </a:pPr>
            <a:r>
              <a:rPr sz="1200" b="0">
                <a:solidFill>
                  <a:srgbClr val="087F83"/>
                </a:solidFill>
              </a:rPr>
              <a:t>Calculated percentages reproduce the published national benchmark.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5191125" y="1676400"/>
          <a:ext cx="619125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definition-strip">
            <a:extLst>
              <a:ext uri="{FF2B5EF4-FFF2-40B4-BE49-F238E27FC236}">
                <a16:creationId xmlns:a16="http://schemas.microsoft.com/office/drawing/2014/main" id="{36B991FB-BCE1-4A2B-82D6-B317EB7FFB55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4000500" cy="895350"/>
          </a:xfrm>
          <a:prstGeom prst="roundRect">
            <a:avLst>
              <a:gd name="adj" fmla="val 12766"/>
            </a:avLst>
          </a:prstGeom>
          <a:solidFill>
            <a:srgbClr val="DFF9F7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definition-text">
            <a:extLst>
              <a:ext uri="{FF2B5EF4-FFF2-40B4-BE49-F238E27FC236}">
                <a16:creationId xmlns:a16="http://schemas.microsoft.com/office/drawing/2014/main" id="{B7D6B189-90F5-41F2-829A-6D3BEA57C781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3619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87F83"/>
                </a:solidFill>
              </a:defRPr>
            </a:pPr>
            <a:r>
              <a:rPr sz="1200" b="0">
                <a:solidFill>
                  <a:srgbClr val="087F83"/>
                </a:solidFill>
              </a:rPr>
              <a:t>These are parent co-residence categories. They do not measure caregiver warmth, safety or stability over time.</a:t>
            </a:r>
          </a:p>
        </p:txBody>
      </p:sp>
      <p:sp>
        <p:nvSpPr>
          <p:cNvPr id="9" name="source-footer">
            <a:extLst>
              <a:ext uri="{FF2B5EF4-FFF2-40B4-BE49-F238E27FC236}">
                <a16:creationId xmlns:a16="http://schemas.microsoft.com/office/drawing/2014/main" id="{A6E65355-11DA-4BBC-912A-033A8FC0B14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7636E"/>
                </a:solidFill>
              </a:defRPr>
            </a:pPr>
            <a:r>
              <a:rPr sz="750" b="0">
                <a:solidFill>
                  <a:srgbClr val="77636E"/>
                </a:solidFill>
              </a:rPr>
              <a:t>Statistics South Africa GHS 2025, Version 1</a:t>
            </a:r>
          </a:p>
        </p:txBody>
      </p:sp>
      <p:sp>
        <p:nvSpPr>
          <p:cNvPr id="10" name="slide-number">
            <a:extLst>
              <a:ext uri="{FF2B5EF4-FFF2-40B4-BE49-F238E27FC236}">
                <a16:creationId xmlns:a16="http://schemas.microsoft.com/office/drawing/2014/main" id="{1342E14C-0F6E-4D9A-BCDB-F2EB7E966676}"/>
              </a:ext>
            </a:extLst>
          </p:cNvPr>
          <p:cNvSpPr>
            <a:spLocks noGrp="1"/>
          </p:cNvSpPr>
          <p:nvPr/>
        </p:nvSpPr>
        <p:spPr>
          <a:xfrm>
            <a:off x="10810875" y="6419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93673"/>
                </a:solidFill>
              </a:defRPr>
            </a:pPr>
            <a:r>
              <a:rPr sz="900" b="1">
                <a:solidFill>
                  <a:srgbClr val="A936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719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-kicker">
            <a:extLst>
              <a:ext uri="{FF2B5EF4-FFF2-40B4-BE49-F238E27FC236}">
                <a16:creationId xmlns:a16="http://schemas.microsoft.com/office/drawing/2014/main" id="{7EFF2A9D-B734-405B-8524-CFDAA593090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83"/>
                </a:solidFill>
              </a:defRPr>
            </a:pPr>
            <a:r>
              <a:rPr sz="975" b="1">
                <a:solidFill>
                  <a:srgbClr val="087F83"/>
                </a:solidFill>
              </a:rPr>
              <a:t>02 / HOUSEHOLD CONTEXT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6B82F55-762E-4080-89AA-511C6DB6AE9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57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6212E"/>
                </a:solidFill>
              </a:defRPr>
            </a:pPr>
            <a:r>
              <a:rPr sz="3300" b="1">
                <a:solidFill>
                  <a:srgbClr val="36212E"/>
                </a:solidFill>
              </a:rPr>
              <a:t>The sharpest divide is material.</a:t>
            </a:r>
          </a:p>
        </p:txBody>
      </p:sp>
      <p:sp>
        <p:nvSpPr>
          <p:cNvPr id="3" name="resource-claim">
            <a:extLst>
              <a:ext uri="{FF2B5EF4-FFF2-40B4-BE49-F238E27FC236}">
                <a16:creationId xmlns:a16="http://schemas.microsoft.com/office/drawing/2014/main" id="{57CD6AC1-7F4D-483B-97A6-FAA661B3DAF1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77636E"/>
                </a:solidFill>
              </a:defRPr>
            </a:pPr>
            <a:r>
              <a:rPr sz="1650" b="0">
                <a:solidFill>
                  <a:srgbClr val="77636E"/>
                </a:solidFill>
              </a:rPr>
              <a:t>Income, food sufficiency and connectivity differ much more than school attendance does.</a:t>
            </a:r>
          </a:p>
        </p:txBody>
      </p:sp>
      <p:graphicFrame>
        <p:nvGraphicFramePr>
          <p:cNvPr id="12" name="Table 11"/>
          <p:cNvGraphicFramePr/>
          <p:nvPr>
            <p:extLst>
              <p:ext uri="{D42A27DB-BD31-4B8C-83A1-F6EECF244321}">
                <p14:modId xmlns:p14="http://schemas.microsoft.com/office/powerpoint/2010/main" val="1370594776"/>
              </p:ext>
            </p:extLst>
          </p:nvPr>
        </p:nvGraphicFramePr>
        <p:xfrm>
          <a:off x="685800" y="2381250"/>
          <a:ext cx="10820400" cy="27813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r>
                        <a:t>Living arrangement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Median income /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Child food insufficiency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 internet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A93673"/>
                          </a:solidFill>
                        </a:rPr>
                        <a:t>Both parents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R2277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06FAE"/>
                          </a:solidFill>
                        </a:rPr>
                        <a:t>Mother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87F83"/>
                          </a:solidFill>
                        </a:rPr>
                        <a:t>Father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R1552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87F83"/>
                          </a:solidFill>
                        </a:rPr>
                        <a:t>Neither 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8.8%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source-takeaway">
            <a:extLst>
              <a:ext uri="{FF2B5EF4-FFF2-40B4-BE49-F238E27FC236}">
                <a16:creationId xmlns:a16="http://schemas.microsoft.com/office/drawing/2014/main" id="{B4DB8442-64E5-4D09-9C4A-4E7BC90DA5E6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08204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CD9E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resource-takeaway-text">
            <a:extLst>
              <a:ext uri="{FF2B5EF4-FFF2-40B4-BE49-F238E27FC236}">
                <a16:creationId xmlns:a16="http://schemas.microsoft.com/office/drawing/2014/main" id="{2AEAE924-B84E-4FA8-8ACD-8ED786A838A8}"/>
              </a:ext>
            </a:extLst>
          </p:cNvPr>
          <p:cNvSpPr>
            <a:spLocks noGrp="1"/>
          </p:cNvSpPr>
          <p:nvPr/>
        </p:nvSpPr>
        <p:spPr>
          <a:xfrm>
            <a:off x="895350" y="56578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87F83"/>
                </a:solidFill>
              </a:defRPr>
            </a:pPr>
            <a:r>
              <a:rPr sz="1275" b="1">
                <a:solidFill>
                  <a:srgbClr val="087F83"/>
                </a:solidFill>
              </a:rPr>
              <a:t>The neither-parent group is also most likely to live in rural or farm areas (58.6%). Context must be modelled before interpreting education gaps.</a:t>
            </a:r>
          </a:p>
        </p:txBody>
      </p:sp>
      <p:sp>
        <p:nvSpPr>
          <p:cNvPr id="7" name="source-footer">
            <a:extLst>
              <a:ext uri="{FF2B5EF4-FFF2-40B4-BE49-F238E27FC236}">
                <a16:creationId xmlns:a16="http://schemas.microsoft.com/office/drawing/2014/main" id="{785F7A78-8F3A-4C65-8759-DD2E09E9CA0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7636E"/>
                </a:solidFill>
              </a:defRPr>
            </a:pPr>
            <a:r>
              <a:rPr sz="750" b="0">
                <a:solidFill>
                  <a:srgbClr val="77636E"/>
                </a:solidFill>
              </a:rPr>
              <a:t>Statistics South Africa GHS 2025, Version 1</a:t>
            </a:r>
          </a:p>
        </p:txBody>
      </p:sp>
      <p:sp>
        <p:nvSpPr>
          <p:cNvPr id="8" name="slide-number">
            <a:extLst>
              <a:ext uri="{FF2B5EF4-FFF2-40B4-BE49-F238E27FC236}">
                <a16:creationId xmlns:a16="http://schemas.microsoft.com/office/drawing/2014/main" id="{451C2472-178D-483B-8180-06BA45F89363}"/>
              </a:ext>
            </a:extLst>
          </p:cNvPr>
          <p:cNvSpPr>
            <a:spLocks noGrp="1"/>
          </p:cNvSpPr>
          <p:nvPr/>
        </p:nvSpPr>
        <p:spPr>
          <a:xfrm>
            <a:off x="10810875" y="6419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93673"/>
                </a:solidFill>
              </a:defRPr>
            </a:pPr>
            <a:r>
              <a:rPr sz="900" b="1">
                <a:solidFill>
                  <a:srgbClr val="A936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5649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-kicker">
            <a:extLst>
              <a:ext uri="{FF2B5EF4-FFF2-40B4-BE49-F238E27FC236}">
                <a16:creationId xmlns:a16="http://schemas.microsoft.com/office/drawing/2014/main" id="{A58E2335-7036-4746-9202-AA53F72CBD5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83"/>
                </a:solidFill>
              </a:defRPr>
            </a:pPr>
            <a:r>
              <a:rPr sz="975" b="1">
                <a:solidFill>
                  <a:srgbClr val="087F83"/>
                </a:solidFill>
              </a:rPr>
              <a:t>03 / EDUCATION — ATTENDANCE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7C821BB-1B76-4774-A1EA-A1844A3B005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6212E"/>
                </a:solidFill>
              </a:defRPr>
            </a:pPr>
            <a:r>
              <a:rPr sz="3300" b="1">
                <a:solidFill>
                  <a:srgbClr val="36212E"/>
                </a:solidFill>
              </a:rPr>
              <a:t>Adjustment closes the mother-only attendance gap.</a:t>
            </a:r>
          </a:p>
        </p:txBody>
      </p:sp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1357018665"/>
              </p:ext>
            </p:extLst>
          </p:nvPr>
        </p:nvGraphicFramePr>
        <p:xfrm>
          <a:off x="685800" y="2095500"/>
          <a:ext cx="7239000" cy="30480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Living arrangement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Observed 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Adjusted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Both parents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96.93</a:t>
                      </a:r>
                      <a:r>
                        <a:rPr lang="en-ZA" dirty="0"/>
                        <a:t>-</a:t>
                      </a:r>
                      <a:r>
                        <a:rPr dirty="0"/>
                        <a:t>98.00%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F83"/>
                          </a:solidFill>
                        </a:rPr>
                        <a:t>97.17%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Mother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96.49</a:t>
                      </a:r>
                      <a:r>
                        <a:rPr lang="en-ZA" dirty="0"/>
                        <a:t>-</a:t>
                      </a:r>
                      <a:r>
                        <a:rPr dirty="0"/>
                        <a:t>97.42%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F83"/>
                          </a:solidFill>
                        </a:rPr>
                        <a:t>97.13%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Father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95.96</a:t>
                      </a:r>
                      <a:r>
                        <a:rPr lang="en-ZA" dirty="0"/>
                        <a:t>-</a:t>
                      </a:r>
                      <a:r>
                        <a:rPr dirty="0"/>
                        <a:t>98.31%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F83"/>
                          </a:solidFill>
                        </a:rPr>
                        <a:t>97.26%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Neither 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94.62</a:t>
                      </a:r>
                      <a:r>
                        <a:rPr lang="en-ZA" dirty="0"/>
                        <a:t>-</a:t>
                      </a:r>
                      <a:r>
                        <a:rPr dirty="0"/>
                        <a:t>96.19%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b="1" dirty="0">
                          <a:solidFill>
                            <a:srgbClr val="087F83"/>
                          </a:solidFill>
                        </a:rPr>
                        <a:t>95.82%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attendance-callout">
            <a:extLst>
              <a:ext uri="{FF2B5EF4-FFF2-40B4-BE49-F238E27FC236}">
                <a16:creationId xmlns:a16="http://schemas.microsoft.com/office/drawing/2014/main" id="{6B283DB3-CA4B-4769-904F-B9A2DB2BE820}"/>
              </a:ext>
            </a:extLst>
          </p:cNvPr>
          <p:cNvSpPr>
            <a:spLocks noGrp="1"/>
          </p:cNvSpPr>
          <p:nvPr/>
        </p:nvSpPr>
        <p:spPr>
          <a:xfrm>
            <a:off x="8334375" y="2095500"/>
            <a:ext cx="3143250" cy="2857500"/>
          </a:xfrm>
          <a:prstGeom prst="roundRect">
            <a:avLst>
              <a:gd name="adj" fmla="val 8000"/>
            </a:avLst>
          </a:prstGeom>
          <a:solidFill>
            <a:srgbClr val="A93673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attendance-callout-label">
            <a:extLst>
              <a:ext uri="{FF2B5EF4-FFF2-40B4-BE49-F238E27FC236}">
                <a16:creationId xmlns:a16="http://schemas.microsoft.com/office/drawing/2014/main" id="{2947766C-B46D-44D5-AE64-C5376904C5B2}"/>
              </a:ext>
            </a:extLst>
          </p:cNvPr>
          <p:cNvSpPr>
            <a:spLocks noGrp="1"/>
          </p:cNvSpPr>
          <p:nvPr/>
        </p:nvSpPr>
        <p:spPr>
          <a:xfrm>
            <a:off x="8667750" y="24288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D8E9"/>
                </a:solidFill>
              </a:defRPr>
            </a:pPr>
            <a:r>
              <a:rPr sz="900" b="1">
                <a:solidFill>
                  <a:srgbClr val="FFD8E9"/>
                </a:solidFill>
              </a:rPr>
              <a:t>ADJUSTED ATTENDANCE</a:t>
            </a:r>
          </a:p>
        </p:txBody>
      </p:sp>
      <p:sp>
        <p:nvSpPr>
          <p:cNvPr id="6" name="attendance-callout-number">
            <a:extLst>
              <a:ext uri="{FF2B5EF4-FFF2-40B4-BE49-F238E27FC236}">
                <a16:creationId xmlns:a16="http://schemas.microsoft.com/office/drawing/2014/main" id="{52A114AD-2EB6-4D9E-810E-034382EE4D3E}"/>
              </a:ext>
            </a:extLst>
          </p:cNvPr>
          <p:cNvSpPr>
            <a:spLocks noGrp="1"/>
          </p:cNvSpPr>
          <p:nvPr/>
        </p:nvSpPr>
        <p:spPr>
          <a:xfrm>
            <a:off x="8667750" y="285750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97.1%</a:t>
            </a:r>
          </a:p>
        </p:txBody>
      </p:sp>
      <p:sp>
        <p:nvSpPr>
          <p:cNvPr id="7" name="attendance-callout-copy">
            <a:extLst>
              <a:ext uri="{FF2B5EF4-FFF2-40B4-BE49-F238E27FC236}">
                <a16:creationId xmlns:a16="http://schemas.microsoft.com/office/drawing/2014/main" id="{BE0B0D71-ACF9-42F7-8B43-2DB8274CE08D}"/>
              </a:ext>
            </a:extLst>
          </p:cNvPr>
          <p:cNvSpPr>
            <a:spLocks noGrp="1"/>
          </p:cNvSpPr>
          <p:nvPr/>
        </p:nvSpPr>
        <p:spPr>
          <a:xfrm>
            <a:off x="8667750" y="3667125"/>
            <a:ext cx="238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Mother-only households are effectively level with both-parent households after observed context is held constant.</a:t>
            </a:r>
          </a:p>
        </p:txBody>
      </p:sp>
      <p:sp>
        <p:nvSpPr>
          <p:cNvPr id="8" name="attendance-note">
            <a:extLst>
              <a:ext uri="{FF2B5EF4-FFF2-40B4-BE49-F238E27FC236}">
                <a16:creationId xmlns:a16="http://schemas.microsoft.com/office/drawing/2014/main" id="{8C6DBE07-C244-44CF-824B-C416C2AA4D8B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2F8"/>
          </a:solidFill>
          <a:ln w="9525">
            <a:solidFill>
              <a:srgbClr val="ECD9E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attendance-ci">
            <a:extLst>
              <a:ext uri="{FF2B5EF4-FFF2-40B4-BE49-F238E27FC236}">
                <a16:creationId xmlns:a16="http://schemas.microsoft.com/office/drawing/2014/main" id="{3D9D405F-2535-4BE2-ACD8-7D4D4871B4ED}"/>
              </a:ext>
            </a:extLst>
          </p:cNvPr>
          <p:cNvSpPr>
            <a:spLocks noGrp="1"/>
          </p:cNvSpPr>
          <p:nvPr/>
        </p:nvSpPr>
        <p:spPr>
          <a:xfrm>
            <a:off x="914400" y="5686425"/>
            <a:ext cx="1038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87F83"/>
                </a:solidFill>
              </a:defRPr>
            </a:pPr>
            <a:r>
              <a:rPr sz="1200" b="1">
                <a:solidFill>
                  <a:srgbClr val="087F83"/>
                </a:solidFill>
              </a:rPr>
              <a:t>Observed intervals account for survey strata and PSU clustering. Adjusted values remain point estimates.</a:t>
            </a:r>
          </a:p>
        </p:txBody>
      </p:sp>
      <p:sp>
        <p:nvSpPr>
          <p:cNvPr id="10" name="source-footer">
            <a:extLst>
              <a:ext uri="{FF2B5EF4-FFF2-40B4-BE49-F238E27FC236}">
                <a16:creationId xmlns:a16="http://schemas.microsoft.com/office/drawing/2014/main" id="{BE203DB2-9D3F-4A85-B14F-A93D60AF6CF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7636E"/>
                </a:solidFill>
              </a:defRPr>
            </a:pPr>
            <a:r>
              <a:rPr sz="750" b="0">
                <a:solidFill>
                  <a:srgbClr val="77636E"/>
                </a:solidFill>
              </a:rPr>
              <a:t>Statistics South Africa GHS 2025, Version 1</a:t>
            </a:r>
          </a:p>
        </p:txBody>
      </p:sp>
      <p:sp>
        <p:nvSpPr>
          <p:cNvPr id="11" name="slide-number">
            <a:extLst>
              <a:ext uri="{FF2B5EF4-FFF2-40B4-BE49-F238E27FC236}">
                <a16:creationId xmlns:a16="http://schemas.microsoft.com/office/drawing/2014/main" id="{7DF4F3C4-227A-4AAB-A6C9-DC104BC2C618}"/>
              </a:ext>
            </a:extLst>
          </p:cNvPr>
          <p:cNvSpPr>
            <a:spLocks noGrp="1"/>
          </p:cNvSpPr>
          <p:nvPr/>
        </p:nvSpPr>
        <p:spPr>
          <a:xfrm>
            <a:off x="10810875" y="6419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93673"/>
                </a:solidFill>
              </a:defRPr>
            </a:pPr>
            <a:r>
              <a:rPr sz="900" b="1">
                <a:solidFill>
                  <a:srgbClr val="A936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469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-kicker">
            <a:extLst>
              <a:ext uri="{FF2B5EF4-FFF2-40B4-BE49-F238E27FC236}">
                <a16:creationId xmlns:a16="http://schemas.microsoft.com/office/drawing/2014/main" id="{E5E3D19E-840C-4E3F-9434-D9E53CF8574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83"/>
                </a:solidFill>
              </a:defRPr>
            </a:pPr>
            <a:r>
              <a:rPr sz="975" b="1">
                <a:solidFill>
                  <a:srgbClr val="087F83"/>
                </a:solidFill>
              </a:rPr>
              <a:t>04 / EDUCATION — GRADE REPETITION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2D3EF45-B459-40CE-9E5F-18919BABB2F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09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6212E"/>
                </a:solidFill>
              </a:defRPr>
            </a:pPr>
            <a:r>
              <a:rPr sz="3300" b="1">
                <a:solidFill>
                  <a:srgbClr val="36212E"/>
                </a:solidFill>
              </a:rPr>
              <a:t>Repetition differences narrow after adjustment.</a:t>
            </a:r>
          </a:p>
        </p:txBody>
      </p:sp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801416838"/>
              </p:ext>
            </p:extLst>
          </p:nvPr>
        </p:nvGraphicFramePr>
        <p:xfrm>
          <a:off x="685800" y="2095500"/>
          <a:ext cx="7239000" cy="30480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Living arrangement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Observed 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Adjusted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Both parents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3.62</a:t>
                      </a:r>
                      <a:r>
                        <a:rPr lang="en-ZA" dirty="0"/>
                        <a:t>-</a:t>
                      </a:r>
                      <a:r>
                        <a:rPr dirty="0"/>
                        <a:t>5.09%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F83"/>
                          </a:solidFill>
                        </a:rPr>
                        <a:t>4.89%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Mother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4.72</a:t>
                      </a:r>
                      <a:r>
                        <a:rPr lang="en-ZA" dirty="0"/>
                        <a:t>-</a:t>
                      </a:r>
                      <a:r>
                        <a:rPr dirty="0"/>
                        <a:t>5.85%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F83"/>
                          </a:solidFill>
                        </a:rPr>
                        <a:t>5.20%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Father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3.60</a:t>
                      </a:r>
                      <a:r>
                        <a:rPr lang="en-ZA" dirty="0"/>
                        <a:t>-</a:t>
                      </a:r>
                      <a:r>
                        <a:rPr dirty="0"/>
                        <a:t>7.08%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F83"/>
                          </a:solidFill>
                        </a:rPr>
                        <a:t>4.60%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Neither 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5.77</a:t>
                      </a:r>
                      <a:r>
                        <a:rPr lang="en-ZA" dirty="0"/>
                        <a:t>-</a:t>
                      </a:r>
                      <a:r>
                        <a:rPr dirty="0"/>
                        <a:t>7.55%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b="1" dirty="0">
                          <a:solidFill>
                            <a:srgbClr val="087F83"/>
                          </a:solidFill>
                        </a:rPr>
                        <a:t>5.89%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petition-callout">
            <a:extLst>
              <a:ext uri="{FF2B5EF4-FFF2-40B4-BE49-F238E27FC236}">
                <a16:creationId xmlns:a16="http://schemas.microsoft.com/office/drawing/2014/main" id="{C1ADE499-8281-4296-BBAB-40C0E86BEB5B}"/>
              </a:ext>
            </a:extLst>
          </p:cNvPr>
          <p:cNvSpPr>
            <a:spLocks noGrp="1"/>
          </p:cNvSpPr>
          <p:nvPr/>
        </p:nvSpPr>
        <p:spPr>
          <a:xfrm>
            <a:off x="8334375" y="2095500"/>
            <a:ext cx="3143250" cy="3048000"/>
          </a:xfrm>
          <a:prstGeom prst="roundRect">
            <a:avLst>
              <a:gd name="adj" fmla="val 7500"/>
            </a:avLst>
          </a:prstGeom>
          <a:solidFill>
            <a:srgbClr val="35C9C2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repetition-callout-label">
            <a:extLst>
              <a:ext uri="{FF2B5EF4-FFF2-40B4-BE49-F238E27FC236}">
                <a16:creationId xmlns:a16="http://schemas.microsoft.com/office/drawing/2014/main" id="{EBD2921A-9CF2-468D-8763-C08DE8996C93}"/>
              </a:ext>
            </a:extLst>
          </p:cNvPr>
          <p:cNvSpPr>
            <a:spLocks noGrp="1"/>
          </p:cNvSpPr>
          <p:nvPr/>
        </p:nvSpPr>
        <p:spPr>
          <a:xfrm>
            <a:off x="8667750" y="2428875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87F83"/>
                </a:solidFill>
              </a:defRPr>
            </a:pPr>
            <a:r>
              <a:rPr sz="900" b="1">
                <a:solidFill>
                  <a:srgbClr val="087F83"/>
                </a:solidFill>
              </a:rPr>
              <a:t>NEITHER-PARENT GROUP</a:t>
            </a:r>
          </a:p>
        </p:txBody>
      </p:sp>
      <p:sp>
        <p:nvSpPr>
          <p:cNvPr id="6" name="repetition-change">
            <a:extLst>
              <a:ext uri="{FF2B5EF4-FFF2-40B4-BE49-F238E27FC236}">
                <a16:creationId xmlns:a16="http://schemas.microsoft.com/office/drawing/2014/main" id="{D0EA54D8-DB7F-431A-B2D5-86CCB018AD97}"/>
              </a:ext>
            </a:extLst>
          </p:cNvPr>
          <p:cNvSpPr>
            <a:spLocks noGrp="1"/>
          </p:cNvSpPr>
          <p:nvPr/>
        </p:nvSpPr>
        <p:spPr>
          <a:xfrm>
            <a:off x="8667750" y="2905125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36212E"/>
                </a:solidFill>
              </a:defRPr>
            </a:pPr>
            <a:r>
              <a:rPr sz="2700" b="1">
                <a:solidFill>
                  <a:srgbClr val="36212E"/>
                </a:solidFill>
              </a:rPr>
              <a:t>6.61 → 5.89%</a:t>
            </a:r>
          </a:p>
        </p:txBody>
      </p:sp>
      <p:sp>
        <p:nvSpPr>
          <p:cNvPr id="7" name="repetition-copy">
            <a:extLst>
              <a:ext uri="{FF2B5EF4-FFF2-40B4-BE49-F238E27FC236}">
                <a16:creationId xmlns:a16="http://schemas.microsoft.com/office/drawing/2014/main" id="{D2F11DC9-CA32-433D-9C84-E4BDCF47891D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2381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6212E"/>
                </a:solidFill>
              </a:defRPr>
            </a:pPr>
            <a:r>
              <a:rPr sz="1350" b="0">
                <a:solidFill>
                  <a:srgbClr val="36212E"/>
                </a:solidFill>
              </a:rPr>
              <a:t>Adjustment reduces the descriptive gap, but does not remove it. The father-only interval is wider because the group is smaller.</a:t>
            </a:r>
          </a:p>
        </p:txBody>
      </p:sp>
      <p:sp>
        <p:nvSpPr>
          <p:cNvPr id="8" name="noncausal-note">
            <a:extLst>
              <a:ext uri="{FF2B5EF4-FFF2-40B4-BE49-F238E27FC236}">
                <a16:creationId xmlns:a16="http://schemas.microsoft.com/office/drawing/2014/main" id="{B66C67E0-72A9-4811-94FF-E36DD740B7E8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CD9E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noncausal-note-text">
            <a:extLst>
              <a:ext uri="{FF2B5EF4-FFF2-40B4-BE49-F238E27FC236}">
                <a16:creationId xmlns:a16="http://schemas.microsoft.com/office/drawing/2014/main" id="{EC40A2AF-0AED-4F38-8B97-89247028AFB3}"/>
              </a:ext>
            </a:extLst>
          </p:cNvPr>
          <p:cNvSpPr>
            <a:spLocks noGrp="1"/>
          </p:cNvSpPr>
          <p:nvPr/>
        </p:nvSpPr>
        <p:spPr>
          <a:xfrm>
            <a:off x="914400" y="5686425"/>
            <a:ext cx="1038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A93673"/>
                </a:solidFill>
              </a:defRPr>
            </a:pPr>
            <a:r>
              <a:rPr sz="1275" b="1">
                <a:solidFill>
                  <a:srgbClr val="A93673"/>
                </a:solidFill>
              </a:rPr>
              <a:t>These estimates describe association. They do not show that living arrangement causes grade repetition.</a:t>
            </a:r>
          </a:p>
        </p:txBody>
      </p:sp>
      <p:sp>
        <p:nvSpPr>
          <p:cNvPr id="10" name="source-footer">
            <a:extLst>
              <a:ext uri="{FF2B5EF4-FFF2-40B4-BE49-F238E27FC236}">
                <a16:creationId xmlns:a16="http://schemas.microsoft.com/office/drawing/2014/main" id="{9616F71D-C69A-469E-964B-5684976346C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7636E"/>
                </a:solidFill>
              </a:defRPr>
            </a:pPr>
            <a:r>
              <a:rPr sz="750" b="0">
                <a:solidFill>
                  <a:srgbClr val="77636E"/>
                </a:solidFill>
              </a:rPr>
              <a:t>Statistics South Africa GHS 2025, Version 1</a:t>
            </a:r>
          </a:p>
        </p:txBody>
      </p:sp>
      <p:sp>
        <p:nvSpPr>
          <p:cNvPr id="11" name="slide-number">
            <a:extLst>
              <a:ext uri="{FF2B5EF4-FFF2-40B4-BE49-F238E27FC236}">
                <a16:creationId xmlns:a16="http://schemas.microsoft.com/office/drawing/2014/main" id="{9DA32960-348B-4205-B74E-F7D04CCADC20}"/>
              </a:ext>
            </a:extLst>
          </p:cNvPr>
          <p:cNvSpPr>
            <a:spLocks noGrp="1"/>
          </p:cNvSpPr>
          <p:nvPr/>
        </p:nvSpPr>
        <p:spPr>
          <a:xfrm>
            <a:off x="10810875" y="6419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93673"/>
                </a:solidFill>
              </a:defRPr>
            </a:pPr>
            <a:r>
              <a:rPr sz="900" b="1">
                <a:solidFill>
                  <a:srgbClr val="A936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1940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-kicker">
            <a:extLst>
              <a:ext uri="{FF2B5EF4-FFF2-40B4-BE49-F238E27FC236}">
                <a16:creationId xmlns:a16="http://schemas.microsoft.com/office/drawing/2014/main" id="{EBF09635-72FF-465D-9AE7-36F71764547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83"/>
                </a:solidFill>
              </a:defRPr>
            </a:pPr>
            <a:r>
              <a:rPr sz="975" b="1">
                <a:solidFill>
                  <a:srgbClr val="087F83"/>
                </a:solidFill>
              </a:rPr>
              <a:t>05 / SOCIAL PROTECTION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446A73C-E758-406D-B438-76C3D24F09C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6212E"/>
                </a:solidFill>
              </a:defRPr>
            </a:pPr>
            <a:r>
              <a:rPr sz="3300" b="1">
                <a:solidFill>
                  <a:srgbClr val="36212E"/>
                </a:solidFill>
              </a:rPr>
              <a:t>Grant receipt signals reach and underlying need.</a:t>
            </a:r>
          </a:p>
        </p:txBody>
      </p:sp>
      <p:sp>
        <p:nvSpPr>
          <p:cNvPr id="3" name="grant-intro">
            <a:extLst>
              <a:ext uri="{FF2B5EF4-FFF2-40B4-BE49-F238E27FC236}">
                <a16:creationId xmlns:a16="http://schemas.microsoft.com/office/drawing/2014/main" id="{0A6E7F91-35AC-4138-9629-5D452FB944C7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77636E"/>
                </a:solidFill>
              </a:defRPr>
            </a:pPr>
            <a:r>
              <a:rPr sz="1500" b="0">
                <a:solidFill>
                  <a:srgbClr val="77636E"/>
                </a:solidFill>
              </a:rPr>
              <a:t>Higher receipt is not a negative child outcome. It reflects eligibility and the protective role of public support.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685800" y="2571750"/>
          <a:ext cx="7572375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ster-card">
            <a:extLst>
              <a:ext uri="{FF2B5EF4-FFF2-40B4-BE49-F238E27FC236}">
                <a16:creationId xmlns:a16="http://schemas.microsoft.com/office/drawing/2014/main" id="{CF0504B0-02DD-45E6-A888-ABBBCE455858}"/>
              </a:ext>
            </a:extLst>
          </p:cNvPr>
          <p:cNvSpPr>
            <a:spLocks noGrp="1"/>
          </p:cNvSpPr>
          <p:nvPr/>
        </p:nvSpPr>
        <p:spPr>
          <a:xfrm>
            <a:off x="8715375" y="2628900"/>
            <a:ext cx="2762250" cy="2333625"/>
          </a:xfrm>
          <a:prstGeom prst="roundRect">
            <a:avLst>
              <a:gd name="adj" fmla="val 9796"/>
            </a:avLst>
          </a:prstGeom>
          <a:solidFill>
            <a:srgbClr val="DFF9F7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foster-label">
            <a:extLst>
              <a:ext uri="{FF2B5EF4-FFF2-40B4-BE49-F238E27FC236}">
                <a16:creationId xmlns:a16="http://schemas.microsoft.com/office/drawing/2014/main" id="{62B6E616-3E61-47EC-8F50-4B69ECA60B18}"/>
              </a:ext>
            </a:extLst>
          </p:cNvPr>
          <p:cNvSpPr>
            <a:spLocks noGrp="1"/>
          </p:cNvSpPr>
          <p:nvPr/>
        </p:nvSpPr>
        <p:spPr>
          <a:xfrm>
            <a:off x="9029700" y="29622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87F83"/>
                </a:solidFill>
              </a:defRPr>
            </a:pPr>
            <a:r>
              <a:rPr sz="900" b="1">
                <a:solidFill>
                  <a:srgbClr val="087F83"/>
                </a:solidFill>
              </a:rPr>
              <a:t>FOSTER CHILD GRANT</a:t>
            </a:r>
          </a:p>
        </p:txBody>
      </p:sp>
      <p:sp>
        <p:nvSpPr>
          <p:cNvPr id="7" name="foster-number">
            <a:extLst>
              <a:ext uri="{FF2B5EF4-FFF2-40B4-BE49-F238E27FC236}">
                <a16:creationId xmlns:a16="http://schemas.microsoft.com/office/drawing/2014/main" id="{BB50944C-6403-4DCF-A719-7EFE0B22FD79}"/>
              </a:ext>
            </a:extLst>
          </p:cNvPr>
          <p:cNvSpPr>
            <a:spLocks noGrp="1"/>
          </p:cNvSpPr>
          <p:nvPr/>
        </p:nvSpPr>
        <p:spPr>
          <a:xfrm>
            <a:off x="9029700" y="3371850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087F83"/>
                </a:solidFill>
              </a:defRPr>
            </a:pPr>
            <a:r>
              <a:rPr sz="3450" b="1">
                <a:solidFill>
                  <a:srgbClr val="087F83"/>
                </a:solidFill>
              </a:rPr>
              <a:t>2.23%</a:t>
            </a:r>
          </a:p>
        </p:txBody>
      </p:sp>
      <p:sp>
        <p:nvSpPr>
          <p:cNvPr id="8" name="foster-copy">
            <a:extLst>
              <a:ext uri="{FF2B5EF4-FFF2-40B4-BE49-F238E27FC236}">
                <a16:creationId xmlns:a16="http://schemas.microsoft.com/office/drawing/2014/main" id="{EE709F1C-2349-41D9-B59D-F9904B1BDE85}"/>
              </a:ext>
            </a:extLst>
          </p:cNvPr>
          <p:cNvSpPr>
            <a:spLocks noGrp="1"/>
          </p:cNvSpPr>
          <p:nvPr/>
        </p:nvSpPr>
        <p:spPr>
          <a:xfrm>
            <a:off x="9029700" y="4086225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6212E"/>
                </a:solidFill>
              </a:defRPr>
            </a:pPr>
            <a:r>
              <a:rPr sz="1200" b="0">
                <a:solidFill>
                  <a:srgbClr val="36212E"/>
                </a:solidFill>
              </a:rPr>
              <a:t>among children living with neither parent. Receipt is not a complete foster-care identifier.</a:t>
            </a:r>
          </a:p>
        </p:txBody>
      </p:sp>
      <p:sp>
        <p:nvSpPr>
          <p:cNvPr id="9" name="source-footer">
            <a:extLst>
              <a:ext uri="{FF2B5EF4-FFF2-40B4-BE49-F238E27FC236}">
                <a16:creationId xmlns:a16="http://schemas.microsoft.com/office/drawing/2014/main" id="{74FA6D54-5819-4ED3-BDE5-BD9F99CAE1F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7636E"/>
                </a:solidFill>
              </a:defRPr>
            </a:pPr>
            <a:r>
              <a:rPr sz="750" b="0">
                <a:solidFill>
                  <a:srgbClr val="77636E"/>
                </a:solidFill>
              </a:rPr>
              <a:t>Statistics South Africa GHS 2025, Version 1</a:t>
            </a:r>
          </a:p>
        </p:txBody>
      </p:sp>
      <p:sp>
        <p:nvSpPr>
          <p:cNvPr id="10" name="slide-number">
            <a:extLst>
              <a:ext uri="{FF2B5EF4-FFF2-40B4-BE49-F238E27FC236}">
                <a16:creationId xmlns:a16="http://schemas.microsoft.com/office/drawing/2014/main" id="{5F5F676D-58D3-4691-A6C7-25208EDF2196}"/>
              </a:ext>
            </a:extLst>
          </p:cNvPr>
          <p:cNvSpPr>
            <a:spLocks noGrp="1"/>
          </p:cNvSpPr>
          <p:nvPr/>
        </p:nvSpPr>
        <p:spPr>
          <a:xfrm>
            <a:off x="10810875" y="6419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93673"/>
                </a:solidFill>
              </a:defRPr>
            </a:pPr>
            <a:r>
              <a:rPr sz="900" b="1">
                <a:solidFill>
                  <a:srgbClr val="A936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3468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ction-kicker">
            <a:extLst>
              <a:ext uri="{FF2B5EF4-FFF2-40B4-BE49-F238E27FC236}">
                <a16:creationId xmlns:a16="http://schemas.microsoft.com/office/drawing/2014/main" id="{4E56E194-78D8-4A41-9025-C53FB7F954B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5C9C2"/>
                </a:solidFill>
              </a:defRPr>
            </a:pPr>
            <a:r>
              <a:rPr sz="975" b="1">
                <a:solidFill>
                  <a:srgbClr val="35C9C2"/>
                </a:solidFill>
              </a:rPr>
              <a:t>06 / HOW THE ANALYSIS WORKS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A771386-FF2E-4C0B-96AD-E64B0191E10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Transparent enough to reproduce. Bounded enough to trust.</a:t>
            </a:r>
          </a:p>
        </p:txBody>
      </p:sp>
      <p:sp>
        <p:nvSpPr>
          <p:cNvPr id="3" name="method-card-1">
            <a:extLst>
              <a:ext uri="{FF2B5EF4-FFF2-40B4-BE49-F238E27FC236}">
                <a16:creationId xmlns:a16="http://schemas.microsoft.com/office/drawing/2014/main" id="{C2CA8FD5-B9BB-4461-B74B-790A43894E10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428875" cy="2476500"/>
          </a:xfrm>
          <a:prstGeom prst="roundRect">
            <a:avLst>
              <a:gd name="adj" fmla="val 6275"/>
            </a:avLst>
          </a:prstGeom>
          <a:solidFill>
            <a:srgbClr val="4A3240"/>
          </a:solidFill>
          <a:ln w="9525">
            <a:solidFill>
              <a:srgbClr val="6B52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method-number-1">
            <a:extLst>
              <a:ext uri="{FF2B5EF4-FFF2-40B4-BE49-F238E27FC236}">
                <a16:creationId xmlns:a16="http://schemas.microsoft.com/office/drawing/2014/main" id="{07CD6F9F-6085-4970-AD0D-702A698BB59D}"/>
              </a:ext>
            </a:extLst>
          </p:cNvPr>
          <p:cNvSpPr>
            <a:spLocks noGrp="1"/>
          </p:cNvSpPr>
          <p:nvPr/>
        </p:nvSpPr>
        <p:spPr>
          <a:xfrm>
            <a:off x="914400" y="246697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84F9A"/>
                </a:solidFill>
              </a:defRPr>
            </a:pPr>
            <a:r>
              <a:rPr sz="1950" b="1">
                <a:solidFill>
                  <a:srgbClr val="E84F9A"/>
                </a:solidFill>
              </a:rPr>
              <a:t>01</a:t>
            </a:r>
          </a:p>
        </p:txBody>
      </p:sp>
      <p:sp>
        <p:nvSpPr>
          <p:cNvPr id="5" name="method-name-1">
            <a:extLst>
              <a:ext uri="{FF2B5EF4-FFF2-40B4-BE49-F238E27FC236}">
                <a16:creationId xmlns:a16="http://schemas.microsoft.com/office/drawing/2014/main" id="{DEF0E000-C3C7-4735-8D11-A97646956209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Join</a:t>
            </a:r>
          </a:p>
        </p:txBody>
      </p:sp>
      <p:sp>
        <p:nvSpPr>
          <p:cNvPr id="6" name="method-copy-1">
            <a:extLst>
              <a:ext uri="{FF2B5EF4-FFF2-40B4-BE49-F238E27FC236}">
                <a16:creationId xmlns:a16="http://schemas.microsoft.com/office/drawing/2014/main" id="{3217DB68-C4AD-46F3-9E4A-564E866F7874}"/>
              </a:ext>
            </a:extLst>
          </p:cNvPr>
          <p:cNvSpPr>
            <a:spLocks noGrp="1"/>
          </p:cNvSpPr>
          <p:nvPr/>
        </p:nvSpPr>
        <p:spPr>
          <a:xfrm>
            <a:off x="914400" y="3571875"/>
            <a:ext cx="19526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D8C6D0"/>
                </a:solidFill>
              </a:defRPr>
            </a:pPr>
            <a:r>
              <a:rPr sz="1200" b="0">
                <a:solidFill>
                  <a:srgbClr val="D8C6D0"/>
                </a:solidFill>
              </a:rPr>
              <a:t>Person + household files linked by household identifier.</a:t>
            </a:r>
          </a:p>
        </p:txBody>
      </p:sp>
      <p:sp>
        <p:nvSpPr>
          <p:cNvPr id="7" name="method-card-2">
            <a:extLst>
              <a:ext uri="{FF2B5EF4-FFF2-40B4-BE49-F238E27FC236}">
                <a16:creationId xmlns:a16="http://schemas.microsoft.com/office/drawing/2014/main" id="{CFE55D65-D38A-42F6-99DA-DEBB9D389F42}"/>
              </a:ext>
            </a:extLst>
          </p:cNvPr>
          <p:cNvSpPr>
            <a:spLocks noGrp="1"/>
          </p:cNvSpPr>
          <p:nvPr/>
        </p:nvSpPr>
        <p:spPr>
          <a:xfrm>
            <a:off x="3409950" y="2238375"/>
            <a:ext cx="2428875" cy="2476500"/>
          </a:xfrm>
          <a:prstGeom prst="roundRect">
            <a:avLst>
              <a:gd name="adj" fmla="val 6275"/>
            </a:avLst>
          </a:prstGeom>
          <a:solidFill>
            <a:srgbClr val="44313C"/>
          </a:solidFill>
          <a:ln w="9525">
            <a:solidFill>
              <a:srgbClr val="6B52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method-number-2">
            <a:extLst>
              <a:ext uri="{FF2B5EF4-FFF2-40B4-BE49-F238E27FC236}">
                <a16:creationId xmlns:a16="http://schemas.microsoft.com/office/drawing/2014/main" id="{A2B73161-660B-4074-835F-B3E57C754B6C}"/>
              </a:ext>
            </a:extLst>
          </p:cNvPr>
          <p:cNvSpPr>
            <a:spLocks noGrp="1"/>
          </p:cNvSpPr>
          <p:nvPr/>
        </p:nvSpPr>
        <p:spPr>
          <a:xfrm>
            <a:off x="3638550" y="246697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84F9A"/>
                </a:solidFill>
              </a:defRPr>
            </a:pPr>
            <a:r>
              <a:rPr sz="1950" b="1">
                <a:solidFill>
                  <a:srgbClr val="E84F9A"/>
                </a:solidFill>
              </a:rPr>
              <a:t>02</a:t>
            </a:r>
          </a:p>
        </p:txBody>
      </p:sp>
      <p:sp>
        <p:nvSpPr>
          <p:cNvPr id="9" name="method-name-2">
            <a:extLst>
              <a:ext uri="{FF2B5EF4-FFF2-40B4-BE49-F238E27FC236}">
                <a16:creationId xmlns:a16="http://schemas.microsoft.com/office/drawing/2014/main" id="{409367B1-723D-4119-938A-C234D69DEC57}"/>
              </a:ext>
            </a:extLst>
          </p:cNvPr>
          <p:cNvSpPr>
            <a:spLocks noGrp="1"/>
          </p:cNvSpPr>
          <p:nvPr/>
        </p:nvSpPr>
        <p:spPr>
          <a:xfrm>
            <a:off x="3638550" y="30480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10" name="method-copy-2">
            <a:extLst>
              <a:ext uri="{FF2B5EF4-FFF2-40B4-BE49-F238E27FC236}">
                <a16:creationId xmlns:a16="http://schemas.microsoft.com/office/drawing/2014/main" id="{F120A90F-70D5-44F5-8568-9C1EF74E6B9E}"/>
              </a:ext>
            </a:extLst>
          </p:cNvPr>
          <p:cNvSpPr>
            <a:spLocks noGrp="1"/>
          </p:cNvSpPr>
          <p:nvPr/>
        </p:nvSpPr>
        <p:spPr>
          <a:xfrm>
            <a:off x="3638550" y="3571875"/>
            <a:ext cx="19526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D8C6D0"/>
                </a:solidFill>
              </a:defRPr>
            </a:pPr>
            <a:r>
              <a:rPr sz="1200" b="0">
                <a:solidFill>
                  <a:srgbClr val="D8C6D0"/>
                </a:solidFill>
              </a:rPr>
              <a:t>Weighted co-residence distribution matched Stats SA.</a:t>
            </a:r>
          </a:p>
        </p:txBody>
      </p:sp>
      <p:sp>
        <p:nvSpPr>
          <p:cNvPr id="11" name="method-card-3">
            <a:extLst>
              <a:ext uri="{FF2B5EF4-FFF2-40B4-BE49-F238E27FC236}">
                <a16:creationId xmlns:a16="http://schemas.microsoft.com/office/drawing/2014/main" id="{054B9FAF-9AF3-4DD4-9B0C-C2AA95762A1C}"/>
              </a:ext>
            </a:extLst>
          </p:cNvPr>
          <p:cNvSpPr>
            <a:spLocks noGrp="1"/>
          </p:cNvSpPr>
          <p:nvPr/>
        </p:nvSpPr>
        <p:spPr>
          <a:xfrm>
            <a:off x="6134100" y="2238375"/>
            <a:ext cx="2428875" cy="2476500"/>
          </a:xfrm>
          <a:prstGeom prst="roundRect">
            <a:avLst>
              <a:gd name="adj" fmla="val 6275"/>
            </a:avLst>
          </a:prstGeom>
          <a:solidFill>
            <a:srgbClr val="4A3240"/>
          </a:solidFill>
          <a:ln w="9525">
            <a:solidFill>
              <a:srgbClr val="6B52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method-number-3">
            <a:extLst>
              <a:ext uri="{FF2B5EF4-FFF2-40B4-BE49-F238E27FC236}">
                <a16:creationId xmlns:a16="http://schemas.microsoft.com/office/drawing/2014/main" id="{219C3AF8-8D6E-47C8-B6DE-7DCFCCD68F0A}"/>
              </a:ext>
            </a:extLst>
          </p:cNvPr>
          <p:cNvSpPr>
            <a:spLocks noGrp="1"/>
          </p:cNvSpPr>
          <p:nvPr/>
        </p:nvSpPr>
        <p:spPr>
          <a:xfrm>
            <a:off x="6362700" y="246697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35C9C2"/>
                </a:solidFill>
              </a:defRPr>
            </a:pPr>
            <a:r>
              <a:rPr sz="1950" b="1">
                <a:solidFill>
                  <a:srgbClr val="35C9C2"/>
                </a:solidFill>
              </a:rPr>
              <a:t>03</a:t>
            </a:r>
          </a:p>
        </p:txBody>
      </p:sp>
      <p:sp>
        <p:nvSpPr>
          <p:cNvPr id="13" name="method-name-3">
            <a:extLst>
              <a:ext uri="{FF2B5EF4-FFF2-40B4-BE49-F238E27FC236}">
                <a16:creationId xmlns:a16="http://schemas.microsoft.com/office/drawing/2014/main" id="{4CC30986-0025-4D49-B4F3-A2FC5D67920E}"/>
              </a:ext>
            </a:extLst>
          </p:cNvPr>
          <p:cNvSpPr>
            <a:spLocks noGrp="1"/>
          </p:cNvSpPr>
          <p:nvPr/>
        </p:nvSpPr>
        <p:spPr>
          <a:xfrm>
            <a:off x="6362700" y="30480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4" name="method-copy-3">
            <a:extLst>
              <a:ext uri="{FF2B5EF4-FFF2-40B4-BE49-F238E27FC236}">
                <a16:creationId xmlns:a16="http://schemas.microsoft.com/office/drawing/2014/main" id="{205E3A0B-9107-4F19-859E-B0F51F413393}"/>
              </a:ext>
            </a:extLst>
          </p:cNvPr>
          <p:cNvSpPr>
            <a:spLocks noGrp="1"/>
          </p:cNvSpPr>
          <p:nvPr/>
        </p:nvSpPr>
        <p:spPr>
          <a:xfrm>
            <a:off x="6362700" y="3571875"/>
            <a:ext cx="19526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D8C6D0"/>
                </a:solidFill>
              </a:defRPr>
            </a:pPr>
            <a:r>
              <a:rPr sz="1200" b="0">
                <a:solidFill>
                  <a:srgbClr val="D8C6D0"/>
                </a:solidFill>
              </a:rPr>
              <a:t>Observed rates use design-aware 95% confidence intervals.</a:t>
            </a:r>
          </a:p>
        </p:txBody>
      </p:sp>
      <p:sp>
        <p:nvSpPr>
          <p:cNvPr id="15" name="method-card-4">
            <a:extLst>
              <a:ext uri="{FF2B5EF4-FFF2-40B4-BE49-F238E27FC236}">
                <a16:creationId xmlns:a16="http://schemas.microsoft.com/office/drawing/2014/main" id="{769FE1C0-49AA-4282-ACAB-9B3DD57968C4}"/>
              </a:ext>
            </a:extLst>
          </p:cNvPr>
          <p:cNvSpPr>
            <a:spLocks noGrp="1"/>
          </p:cNvSpPr>
          <p:nvPr/>
        </p:nvSpPr>
        <p:spPr>
          <a:xfrm>
            <a:off x="8858250" y="2238375"/>
            <a:ext cx="2428875" cy="2476500"/>
          </a:xfrm>
          <a:prstGeom prst="roundRect">
            <a:avLst>
              <a:gd name="adj" fmla="val 6275"/>
            </a:avLst>
          </a:prstGeom>
          <a:solidFill>
            <a:srgbClr val="44313C"/>
          </a:solidFill>
          <a:ln w="9525">
            <a:solidFill>
              <a:srgbClr val="6B52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method-number-4">
            <a:extLst>
              <a:ext uri="{FF2B5EF4-FFF2-40B4-BE49-F238E27FC236}">
                <a16:creationId xmlns:a16="http://schemas.microsoft.com/office/drawing/2014/main" id="{B4A346C9-1631-40DB-B80B-5B4E3E8A220D}"/>
              </a:ext>
            </a:extLst>
          </p:cNvPr>
          <p:cNvSpPr>
            <a:spLocks noGrp="1"/>
          </p:cNvSpPr>
          <p:nvPr/>
        </p:nvSpPr>
        <p:spPr>
          <a:xfrm>
            <a:off x="9086850" y="246697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35C9C2"/>
                </a:solidFill>
              </a:defRPr>
            </a:pPr>
            <a:r>
              <a:rPr sz="1950" b="1">
                <a:solidFill>
                  <a:srgbClr val="35C9C2"/>
                </a:solidFill>
              </a:rPr>
              <a:t>04</a:t>
            </a:r>
          </a:p>
        </p:txBody>
      </p:sp>
      <p:sp>
        <p:nvSpPr>
          <p:cNvPr id="17" name="method-name-4">
            <a:extLst>
              <a:ext uri="{FF2B5EF4-FFF2-40B4-BE49-F238E27FC236}">
                <a16:creationId xmlns:a16="http://schemas.microsoft.com/office/drawing/2014/main" id="{960AAA1D-0CEA-4954-9E91-139587FC4DB7}"/>
              </a:ext>
            </a:extLst>
          </p:cNvPr>
          <p:cNvSpPr>
            <a:spLocks noGrp="1"/>
          </p:cNvSpPr>
          <p:nvPr/>
        </p:nvSpPr>
        <p:spPr>
          <a:xfrm>
            <a:off x="9086850" y="30480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Adjust</a:t>
            </a:r>
          </a:p>
        </p:txBody>
      </p:sp>
      <p:sp>
        <p:nvSpPr>
          <p:cNvPr id="18" name="method-copy-4">
            <a:extLst>
              <a:ext uri="{FF2B5EF4-FFF2-40B4-BE49-F238E27FC236}">
                <a16:creationId xmlns:a16="http://schemas.microsoft.com/office/drawing/2014/main" id="{FE17073B-7B82-4537-A45E-D7581EB2F31C}"/>
              </a:ext>
            </a:extLst>
          </p:cNvPr>
          <p:cNvSpPr>
            <a:spLocks noGrp="1"/>
          </p:cNvSpPr>
          <p:nvPr/>
        </p:nvSpPr>
        <p:spPr>
          <a:xfrm>
            <a:off x="9086850" y="3571875"/>
            <a:ext cx="19526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D8C6D0"/>
                </a:solidFill>
              </a:defRPr>
            </a:pPr>
            <a:r>
              <a:rPr sz="1200" b="0">
                <a:solidFill>
                  <a:srgbClr val="D8C6D0"/>
                </a:solidFill>
              </a:rPr>
              <a:t>Weighted logistic models produce standardised probabilities.</a:t>
            </a:r>
          </a:p>
        </p:txBody>
      </p:sp>
      <p:sp>
        <p:nvSpPr>
          <p:cNvPr id="19" name="limits-box">
            <a:extLst>
              <a:ext uri="{FF2B5EF4-FFF2-40B4-BE49-F238E27FC236}">
                <a16:creationId xmlns:a16="http://schemas.microsoft.com/office/drawing/2014/main" id="{C51FD61F-5C32-475A-8F0B-11AABEF0B68A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601325" cy="781050"/>
          </a:xfrm>
          <a:prstGeom prst="roundRect">
            <a:avLst>
              <a:gd name="adj" fmla="val 14634"/>
            </a:avLst>
          </a:prstGeom>
          <a:solidFill>
            <a:srgbClr val="2C1A24"/>
          </a:solidFill>
          <a:ln w="9525">
            <a:solidFill>
              <a:srgbClr val="6B52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limits-label">
            <a:extLst>
              <a:ext uri="{FF2B5EF4-FFF2-40B4-BE49-F238E27FC236}">
                <a16:creationId xmlns:a16="http://schemas.microsoft.com/office/drawing/2014/main" id="{61442F21-5C99-41C2-B670-E4AB828097F4}"/>
              </a:ext>
            </a:extLst>
          </p:cNvPr>
          <p:cNvSpPr>
            <a:spLocks noGrp="1"/>
          </p:cNvSpPr>
          <p:nvPr/>
        </p:nvSpPr>
        <p:spPr>
          <a:xfrm>
            <a:off x="895350" y="54006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35C9C2"/>
                </a:solidFill>
              </a:defRPr>
            </a:pPr>
            <a:r>
              <a:rPr sz="900" b="1">
                <a:solidFill>
                  <a:srgbClr val="35C9C2"/>
                </a:solidFill>
              </a:rPr>
              <a:t>LIMITS</a:t>
            </a:r>
          </a:p>
        </p:txBody>
      </p:sp>
      <p:sp>
        <p:nvSpPr>
          <p:cNvPr id="21" name="limits-copy">
            <a:extLst>
              <a:ext uri="{FF2B5EF4-FFF2-40B4-BE49-F238E27FC236}">
                <a16:creationId xmlns:a16="http://schemas.microsoft.com/office/drawing/2014/main" id="{797A08EA-8BFC-4E1C-A461-EEE64C852A4F}"/>
              </a:ext>
            </a:extLst>
          </p:cNvPr>
          <p:cNvSpPr>
            <a:spLocks noGrp="1"/>
          </p:cNvSpPr>
          <p:nvPr/>
        </p:nvSpPr>
        <p:spPr>
          <a:xfrm>
            <a:off x="1714500" y="5362575"/>
            <a:ext cx="923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Cross-sectional • no direct adoption identifier • institutions excluded • adjusted estimates are not causal • adjusted contrasts still need formal design-based inference</a:t>
            </a:r>
          </a:p>
        </p:txBody>
      </p:sp>
      <p:sp>
        <p:nvSpPr>
          <p:cNvPr id="22" name="source-footer">
            <a:extLst>
              <a:ext uri="{FF2B5EF4-FFF2-40B4-BE49-F238E27FC236}">
                <a16:creationId xmlns:a16="http://schemas.microsoft.com/office/drawing/2014/main" id="{68B39C28-A425-446D-9D8E-92B8292FE2E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CDBBC5"/>
                </a:solidFill>
              </a:defRPr>
            </a:pPr>
            <a:r>
              <a:rPr sz="750" b="0">
                <a:solidFill>
                  <a:srgbClr val="CDBBC5"/>
                </a:solidFill>
              </a:rPr>
              <a:t>Statistics South Africa GHS 2025, Version 1</a:t>
            </a:r>
          </a:p>
        </p:txBody>
      </p:sp>
      <p:sp>
        <p:nvSpPr>
          <p:cNvPr id="23" name="slide-number">
            <a:extLst>
              <a:ext uri="{FF2B5EF4-FFF2-40B4-BE49-F238E27FC236}">
                <a16:creationId xmlns:a16="http://schemas.microsoft.com/office/drawing/2014/main" id="{D8D9A388-402B-44FF-BE64-4D81E55526D1}"/>
              </a:ext>
            </a:extLst>
          </p:cNvPr>
          <p:cNvSpPr>
            <a:spLocks noGrp="1"/>
          </p:cNvSpPr>
          <p:nvPr/>
        </p:nvSpPr>
        <p:spPr>
          <a:xfrm>
            <a:off x="10810875" y="6419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35C9C2"/>
                </a:solidFill>
              </a:defRPr>
            </a:pPr>
            <a:r>
              <a:rPr sz="900" b="1">
                <a:solidFill>
                  <a:srgbClr val="35C9C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030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ing-orbit">
            <a:extLst>
              <a:ext uri="{FF2B5EF4-FFF2-40B4-BE49-F238E27FC236}">
                <a16:creationId xmlns:a16="http://schemas.microsoft.com/office/drawing/2014/main" id="{2539C96D-C9AF-48CF-AD83-28954C4DC229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3048000" cy="3048000"/>
          </a:xfrm>
          <a:prstGeom prst="ellipse">
            <a:avLst/>
          </a:prstGeom>
          <a:solidFill>
            <a:srgbClr val="DFF9F7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" name="section-kicker">
            <a:extLst>
              <a:ext uri="{FF2B5EF4-FFF2-40B4-BE49-F238E27FC236}">
                <a16:creationId xmlns:a16="http://schemas.microsoft.com/office/drawing/2014/main" id="{EFB7ED16-761F-4052-BF65-761C8396261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87F83"/>
                </a:solidFill>
              </a:defRPr>
            </a:pPr>
            <a:r>
              <a:rPr sz="975" b="1">
                <a:solidFill>
                  <a:srgbClr val="087F83"/>
                </a:solidFill>
              </a:rPr>
              <a:t>07 / IMPLICATION</a:t>
            </a:r>
          </a:p>
        </p:txBody>
      </p:sp>
      <p:sp>
        <p:nvSpPr>
          <p:cNvPr id="3" name="closing-title">
            <a:extLst>
              <a:ext uri="{FF2B5EF4-FFF2-40B4-BE49-F238E27FC236}">
                <a16:creationId xmlns:a16="http://schemas.microsoft.com/office/drawing/2014/main" id="{EBA36754-C025-4B3B-95C4-15D4245F2967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7810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36212E"/>
                </a:solidFill>
              </a:defRPr>
            </a:pPr>
            <a:r>
              <a:rPr sz="3750" b="1">
                <a:solidFill>
                  <a:srgbClr val="36212E"/>
                </a:solidFill>
              </a:rPr>
              <a:t>A better question is not</a:t>
            </a:r>
          </a:p>
          <a:p>
            <a:pPr algn="l">
              <a:defRPr sz="3750" b="1">
                <a:solidFill>
                  <a:srgbClr val="36212E"/>
                </a:solidFill>
              </a:defRPr>
            </a:pPr>
            <a:r>
              <a:rPr sz="3750" b="1">
                <a:solidFill>
                  <a:srgbClr val="36212E"/>
                </a:solidFill>
              </a:rPr>
              <a:t>“Which family type wins?”</a:t>
            </a:r>
          </a:p>
        </p:txBody>
      </p:sp>
      <p:sp>
        <p:nvSpPr>
          <p:cNvPr id="4" name="closing-answer">
            <a:extLst>
              <a:ext uri="{FF2B5EF4-FFF2-40B4-BE49-F238E27FC236}">
                <a16:creationId xmlns:a16="http://schemas.microsoft.com/office/drawing/2014/main" id="{A2FD7C77-972C-4939-8EA6-D7095AC49D6E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A93673"/>
                </a:solidFill>
              </a:defRPr>
            </a:pPr>
            <a:r>
              <a:rPr sz="3000" b="1">
                <a:solidFill>
                  <a:srgbClr val="A93673"/>
                </a:solidFill>
              </a:rPr>
              <a:t>It is: what support reaches each child?</a:t>
            </a:r>
          </a:p>
        </p:txBody>
      </p:sp>
      <p:sp>
        <p:nvSpPr>
          <p:cNvPr id="5" name="lever-1">
            <a:extLst>
              <a:ext uri="{FF2B5EF4-FFF2-40B4-BE49-F238E27FC236}">
                <a16:creationId xmlns:a16="http://schemas.microsoft.com/office/drawing/2014/main" id="{8360B1BD-192D-4B85-A4FA-418913927F55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323850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9525">
            <a:solidFill>
              <a:srgbClr val="ECD9E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lever-dot-1">
            <a:extLst>
              <a:ext uri="{FF2B5EF4-FFF2-40B4-BE49-F238E27FC236}">
                <a16:creationId xmlns:a16="http://schemas.microsoft.com/office/drawing/2014/main" id="{B9716295-99B6-4BFB-831F-B9F23AC01A14}"/>
              </a:ext>
            </a:extLst>
          </p:cNvPr>
          <p:cNvSpPr>
            <a:spLocks noGrp="1"/>
          </p:cNvSpPr>
          <p:nvPr/>
        </p:nvSpPr>
        <p:spPr>
          <a:xfrm>
            <a:off x="914400" y="4152900"/>
            <a:ext cx="171450" cy="171450"/>
          </a:xfrm>
          <a:prstGeom prst="ellipse">
            <a:avLst/>
          </a:prstGeom>
          <a:solidFill>
            <a:srgbClr val="E84F9A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lever-title-1">
            <a:extLst>
              <a:ext uri="{FF2B5EF4-FFF2-40B4-BE49-F238E27FC236}">
                <a16:creationId xmlns:a16="http://schemas.microsoft.com/office/drawing/2014/main" id="{1B75AA0A-1296-4B90-A8FF-76BB7B2A7595}"/>
              </a:ext>
            </a:extLst>
          </p:cNvPr>
          <p:cNvSpPr>
            <a:spLocks noGrp="1"/>
          </p:cNvSpPr>
          <p:nvPr/>
        </p:nvSpPr>
        <p:spPr>
          <a:xfrm>
            <a:off x="1219200" y="4076700"/>
            <a:ext cx="2333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A93673"/>
                </a:solidFill>
              </a:defRPr>
            </a:pPr>
            <a:r>
              <a:rPr sz="1575" b="1">
                <a:solidFill>
                  <a:srgbClr val="A93673"/>
                </a:solidFill>
              </a:rPr>
              <a:t>Food security</a:t>
            </a:r>
          </a:p>
        </p:txBody>
      </p:sp>
      <p:sp>
        <p:nvSpPr>
          <p:cNvPr id="8" name="lever-copy-1">
            <a:extLst>
              <a:ext uri="{FF2B5EF4-FFF2-40B4-BE49-F238E27FC236}">
                <a16:creationId xmlns:a16="http://schemas.microsoft.com/office/drawing/2014/main" id="{EE4D867A-0DA8-403C-B9E0-412CB0BD4D52}"/>
              </a:ext>
            </a:extLst>
          </p:cNvPr>
          <p:cNvSpPr>
            <a:spLocks noGrp="1"/>
          </p:cNvSpPr>
          <p:nvPr/>
        </p:nvSpPr>
        <p:spPr>
          <a:xfrm>
            <a:off x="914400" y="4591050"/>
            <a:ext cx="2781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7636E"/>
                </a:solidFill>
              </a:defRPr>
            </a:pPr>
            <a:r>
              <a:rPr sz="1125" b="0">
                <a:solidFill>
                  <a:srgbClr val="77636E"/>
                </a:solidFill>
              </a:rPr>
              <a:t>Reduce the material pressure most clearly associated with living-arrangement differences.</a:t>
            </a:r>
          </a:p>
        </p:txBody>
      </p:sp>
      <p:sp>
        <p:nvSpPr>
          <p:cNvPr id="9" name="lever-2">
            <a:extLst>
              <a:ext uri="{FF2B5EF4-FFF2-40B4-BE49-F238E27FC236}">
                <a16:creationId xmlns:a16="http://schemas.microsoft.com/office/drawing/2014/main" id="{7049F034-AE07-432B-9578-9A20540DF99A}"/>
              </a:ext>
            </a:extLst>
          </p:cNvPr>
          <p:cNvSpPr>
            <a:spLocks noGrp="1"/>
          </p:cNvSpPr>
          <p:nvPr/>
        </p:nvSpPr>
        <p:spPr>
          <a:xfrm>
            <a:off x="4210050" y="3905250"/>
            <a:ext cx="323850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9525">
            <a:solidFill>
              <a:srgbClr val="ECD9E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lever-dot-2">
            <a:extLst>
              <a:ext uri="{FF2B5EF4-FFF2-40B4-BE49-F238E27FC236}">
                <a16:creationId xmlns:a16="http://schemas.microsoft.com/office/drawing/2014/main" id="{749FBA2F-A3B7-414C-AC93-C8ACC88B7838}"/>
              </a:ext>
            </a:extLst>
          </p:cNvPr>
          <p:cNvSpPr>
            <a:spLocks noGrp="1"/>
          </p:cNvSpPr>
          <p:nvPr/>
        </p:nvSpPr>
        <p:spPr>
          <a:xfrm>
            <a:off x="4438650" y="4152900"/>
            <a:ext cx="171450" cy="171450"/>
          </a:xfrm>
          <a:prstGeom prst="ellipse">
            <a:avLst/>
          </a:prstGeom>
          <a:solidFill>
            <a:srgbClr val="35C9C2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lever-title-2">
            <a:extLst>
              <a:ext uri="{FF2B5EF4-FFF2-40B4-BE49-F238E27FC236}">
                <a16:creationId xmlns:a16="http://schemas.microsoft.com/office/drawing/2014/main" id="{4E758076-30BA-41E1-A5DB-041A946EFC44}"/>
              </a:ext>
            </a:extLst>
          </p:cNvPr>
          <p:cNvSpPr>
            <a:spLocks noGrp="1"/>
          </p:cNvSpPr>
          <p:nvPr/>
        </p:nvSpPr>
        <p:spPr>
          <a:xfrm>
            <a:off x="4743450" y="4076700"/>
            <a:ext cx="2333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7F83"/>
                </a:solidFill>
              </a:defRPr>
            </a:pPr>
            <a:r>
              <a:rPr sz="1575" b="1">
                <a:solidFill>
                  <a:srgbClr val="087F83"/>
                </a:solidFill>
              </a:rPr>
              <a:t>Connectivity</a:t>
            </a:r>
          </a:p>
        </p:txBody>
      </p:sp>
      <p:sp>
        <p:nvSpPr>
          <p:cNvPr id="12" name="lever-copy-2">
            <a:extLst>
              <a:ext uri="{FF2B5EF4-FFF2-40B4-BE49-F238E27FC236}">
                <a16:creationId xmlns:a16="http://schemas.microsoft.com/office/drawing/2014/main" id="{5663BE5E-59B1-4588-A7D6-7B183DAD3289}"/>
              </a:ext>
            </a:extLst>
          </p:cNvPr>
          <p:cNvSpPr>
            <a:spLocks noGrp="1"/>
          </p:cNvSpPr>
          <p:nvPr/>
        </p:nvSpPr>
        <p:spPr>
          <a:xfrm>
            <a:off x="4438650" y="4591050"/>
            <a:ext cx="2781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7636E"/>
                </a:solidFill>
              </a:defRPr>
            </a:pPr>
            <a:r>
              <a:rPr sz="1125" b="0">
                <a:solidFill>
                  <a:srgbClr val="77636E"/>
                </a:solidFill>
              </a:rPr>
              <a:t>Improve household access to digital learning and information.</a:t>
            </a:r>
          </a:p>
        </p:txBody>
      </p:sp>
      <p:sp>
        <p:nvSpPr>
          <p:cNvPr id="13" name="lever-3">
            <a:extLst>
              <a:ext uri="{FF2B5EF4-FFF2-40B4-BE49-F238E27FC236}">
                <a16:creationId xmlns:a16="http://schemas.microsoft.com/office/drawing/2014/main" id="{AEDB5396-D0B9-462C-A550-A53F7082AF7B}"/>
              </a:ext>
            </a:extLst>
          </p:cNvPr>
          <p:cNvSpPr>
            <a:spLocks noGrp="1"/>
          </p:cNvSpPr>
          <p:nvPr/>
        </p:nvSpPr>
        <p:spPr>
          <a:xfrm>
            <a:off x="7734300" y="3905250"/>
            <a:ext cx="323850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9525">
            <a:solidFill>
              <a:srgbClr val="ECD9E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lever-dot-3">
            <a:extLst>
              <a:ext uri="{FF2B5EF4-FFF2-40B4-BE49-F238E27FC236}">
                <a16:creationId xmlns:a16="http://schemas.microsoft.com/office/drawing/2014/main" id="{2CE53EC0-59B1-4E85-A120-FD2D2EA0FE81}"/>
              </a:ext>
            </a:extLst>
          </p:cNvPr>
          <p:cNvSpPr>
            <a:spLocks noGrp="1"/>
          </p:cNvSpPr>
          <p:nvPr/>
        </p:nvSpPr>
        <p:spPr>
          <a:xfrm>
            <a:off x="7962900" y="4152900"/>
            <a:ext cx="171450" cy="171450"/>
          </a:xfrm>
          <a:prstGeom prst="ellipse">
            <a:avLst/>
          </a:prstGeom>
          <a:solidFill>
            <a:srgbClr val="E84F9A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lever-title-3">
            <a:extLst>
              <a:ext uri="{FF2B5EF4-FFF2-40B4-BE49-F238E27FC236}">
                <a16:creationId xmlns:a16="http://schemas.microsoft.com/office/drawing/2014/main" id="{CA153665-CD16-4783-8430-275B5BEA82C8}"/>
              </a:ext>
            </a:extLst>
          </p:cNvPr>
          <p:cNvSpPr>
            <a:spLocks noGrp="1"/>
          </p:cNvSpPr>
          <p:nvPr/>
        </p:nvSpPr>
        <p:spPr>
          <a:xfrm>
            <a:off x="8267700" y="4076700"/>
            <a:ext cx="2333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A93673"/>
                </a:solidFill>
              </a:defRPr>
            </a:pPr>
            <a:r>
              <a:rPr sz="1575" b="1">
                <a:solidFill>
                  <a:srgbClr val="A93673"/>
                </a:solidFill>
              </a:rPr>
              <a:t>Educational support</a:t>
            </a:r>
          </a:p>
        </p:txBody>
      </p:sp>
      <p:sp>
        <p:nvSpPr>
          <p:cNvPr id="16" name="lever-copy-3">
            <a:extLst>
              <a:ext uri="{FF2B5EF4-FFF2-40B4-BE49-F238E27FC236}">
                <a16:creationId xmlns:a16="http://schemas.microsoft.com/office/drawing/2014/main" id="{7D252671-FD5C-46B0-A10E-B36F6A866104}"/>
              </a:ext>
            </a:extLst>
          </p:cNvPr>
          <p:cNvSpPr>
            <a:spLocks noGrp="1"/>
          </p:cNvSpPr>
          <p:nvPr/>
        </p:nvSpPr>
        <p:spPr>
          <a:xfrm>
            <a:off x="7962900" y="4591050"/>
            <a:ext cx="2781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7636E"/>
                </a:solidFill>
              </a:defRPr>
            </a:pPr>
            <a:r>
              <a:rPr sz="1125" b="0">
                <a:solidFill>
                  <a:srgbClr val="77636E"/>
                </a:solidFill>
              </a:rPr>
              <a:t>Target absence and repetition without ranking families.</a:t>
            </a:r>
          </a:p>
        </p:txBody>
      </p:sp>
      <p:sp>
        <p:nvSpPr>
          <p:cNvPr id="17" name="closing-source">
            <a:extLst>
              <a:ext uri="{FF2B5EF4-FFF2-40B4-BE49-F238E27FC236}">
                <a16:creationId xmlns:a16="http://schemas.microsoft.com/office/drawing/2014/main" id="{F4581AF8-2305-445E-987E-4835C720B065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09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7636E"/>
                </a:solidFill>
              </a:defRPr>
            </a:pPr>
            <a:r>
              <a:rPr sz="900" b="0">
                <a:solidFill>
                  <a:srgbClr val="77636E"/>
                </a:solidFill>
              </a:rPr>
              <a:t>Project source: Statistics South Africa General Household Survey 2025, Version 1</a:t>
            </a:r>
          </a:p>
        </p:txBody>
      </p:sp>
      <p:sp>
        <p:nvSpPr>
          <p:cNvPr id="18" name="closing-mark">
            <a:extLst>
              <a:ext uri="{FF2B5EF4-FFF2-40B4-BE49-F238E27FC236}">
                <a16:creationId xmlns:a16="http://schemas.microsoft.com/office/drawing/2014/main" id="{23382ABA-016A-4A55-8AF8-62A8D088F2D0}"/>
              </a:ext>
            </a:extLst>
          </p:cNvPr>
          <p:cNvSpPr>
            <a:spLocks noGrp="1"/>
          </p:cNvSpPr>
          <p:nvPr/>
        </p:nvSpPr>
        <p:spPr>
          <a:xfrm>
            <a:off x="9620250" y="604837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087F83"/>
                </a:solidFill>
              </a:defRPr>
            </a:pPr>
            <a:r>
              <a:rPr sz="1050" b="1">
                <a:solidFill>
                  <a:srgbClr val="087F83"/>
                </a:solidFill>
              </a:rPr>
              <a:t>CARE / SA 2025</a:t>
            </a:r>
          </a:p>
        </p:txBody>
      </p:sp>
      <p:sp>
        <p:nvSpPr>
          <p:cNvPr id="19" name="source-footer">
            <a:extLst>
              <a:ext uri="{FF2B5EF4-FFF2-40B4-BE49-F238E27FC236}">
                <a16:creationId xmlns:a16="http://schemas.microsoft.com/office/drawing/2014/main" id="{D69AFA3A-B6CA-4C02-93D7-1F66534BD59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7636E"/>
                </a:solidFill>
              </a:defRPr>
            </a:pPr>
            <a:r>
              <a:rPr sz="750" b="0">
                <a:solidFill>
                  <a:srgbClr val="77636E"/>
                </a:solidFill>
              </a:rPr>
              <a:t>Portfolio conclusion</a:t>
            </a:r>
          </a:p>
        </p:txBody>
      </p:sp>
      <p:sp>
        <p:nvSpPr>
          <p:cNvPr id="20" name="slide-number">
            <a:extLst>
              <a:ext uri="{FF2B5EF4-FFF2-40B4-BE49-F238E27FC236}">
                <a16:creationId xmlns:a16="http://schemas.microsoft.com/office/drawing/2014/main" id="{254E881B-01E4-40B3-8DCF-031388000A13}"/>
              </a:ext>
            </a:extLst>
          </p:cNvPr>
          <p:cNvSpPr>
            <a:spLocks noGrp="1"/>
          </p:cNvSpPr>
          <p:nvPr/>
        </p:nvSpPr>
        <p:spPr>
          <a:xfrm>
            <a:off x="10810875" y="6419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93673"/>
                </a:solidFill>
              </a:defRPr>
            </a:pPr>
            <a:r>
              <a:rPr sz="900" b="1">
                <a:solidFill>
                  <a:srgbClr val="A936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651481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Microsoft Office PowerPoint</Application>
  <DocSecurity>0</DocSecurity>
  <PresentationFormat>Widescreen</PresentationFormat>
  <Paragraphs>150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Blessing Singo</cp:lastModifiedBy>
  <cp:revision>1</cp:revision>
  <dcterms:created xsi:type="dcterms:W3CDTF">2026-07-19T21:29:13Z</dcterms:created>
  <dcterms:modified xsi:type="dcterms:W3CDTF">2026-07-28T18:27:33Z</dcterms:modified>
</cp:coreProperties>
</file>